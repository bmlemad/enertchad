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Brut tchadien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D9A84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Pt>
            <c:idx val="1"/>
            <c:bubble3D val="0"/>
            <c:spPr>
              <a:solidFill>
                <a:srgbClr val="26415F"/>
              </a:solidFill>
              <a:ln w="19050" cap="flat">
                <a:solidFill>
                  <a:srgbClr val="0B1422"/>
                </a:solidFill>
                <a:prstDash val="solid"/>
                <a:round/>
              </a:ln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Transformé au Tchad (~14 %)</c:v>
                </c:pt>
                <c:pt idx="1">
                  <c:v>Exporté brut (~86 %)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14</c:v>
                </c:pt>
                <c:pt idx="1">
                  <c:v>86</c:v>
                </c:pt>
              </c:numCache>
            </c:numRef>
          </c:val>
        </c:ser>
        <c:firstSliceAng val="0"/>
        <c:holeSize val="62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9DAAC2"/>
              </a:solidFill>
            </a:defRPr>
          </a:pPr>
          <a:endParaRPr lang="en-US"/>
        </a:p>
      </c:txPr>
    </c:legend>
    <c:plotVisOnly val="1"/>
    <c:dispBlanksAs val="span"/>
  </c:chart>
  <c:spPr>
    <a:solidFill>
      <a:srgbClr val="0B1422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B1422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6126480" y="-1280160"/>
            <a:ext cx="4937760" cy="493776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6858000" y="-548640"/>
            <a:ext cx="3474720" cy="3474720"/>
          </a:xfrm>
          <a:prstGeom prst="ellipse">
            <a:avLst/>
          </a:prstGeom>
          <a:solidFill>
            <a:srgbClr val="0B1422"/>
          </a:solidFill>
          <a:ln w="9525">
            <a:solidFill>
              <a:srgbClr val="33506F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640080" y="59436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1371600"/>
            <a:ext cx="749808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
et importe ses carburants.
</a:t>
            </a:r>
            <a:pPr indent="0" marL="0">
              <a:lnSpc>
                <a:spcPts val="4200"/>
              </a:lnSpc>
              <a:buNone/>
            </a:pPr>
            <a:r>
              <a:rPr lang="en-US" sz="3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inversons cette logique.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640080" y="39776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Dossier investisseur · Juillet 2026 · Confidentiel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4315968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9CC8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 roche-mère à la pompe — un énergéticien intégré, né des réalités tchadiennes.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L'OPPORTUNITÉ · DONNÉES SECTEUR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0467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paradoxe tchadien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298448"/>
            <a:ext cx="4663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pays pétrolier qui importe l'essentiel de ses carburants : chaque maillon manquant de la chaîne de valeur est un marché à construire.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48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144 kb/j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production nationale de brut — exportée à ~86 %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834640" y="233172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 kb/j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2834640" y="283464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raffinerie (Djermaya) pour tout le pays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548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 bassins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548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blocs au cadastre — largement sous-explorés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834640" y="352044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1 070 km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2834640" y="40233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d'export utilisé à 40 % — marge énorme</a:t>
            </a:r>
            <a:endParaRPr lang="en-US" sz="10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5394960" y="1417320"/>
          <a:ext cx="3291840" cy="3017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Text 11"/>
          <p:cNvSpPr/>
          <p:nvPr/>
        </p:nvSpPr>
        <p:spPr>
          <a:xfrm>
            <a:off x="6355080" y="248716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~14 %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6263640" y="2852928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 ici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MOMENT · TCHAD CONNEXION 2030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L'État appelle les Tchadiens à investir au Tchad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417320"/>
            <a:ext cx="80467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1732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54480"/>
            <a:ext cx="7589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Le Tchad est une terre d'opportunités. Venez investir, le moment, c'est maintenant. »</a:t>
            </a:r>
            <a:endParaRPr lang="en-US" sz="1500" dirty="0"/>
          </a:p>
          <a:p>
            <a:pPr indent="0" marL="0">
              <a:lnSpc>
                <a:spcPts val="2200"/>
              </a:lnSpc>
              <a:buNone/>
            </a:pPr>
            <a:r>
              <a:rPr lang="en-US" sz="1000" dirty="0">
                <a:solidFill>
                  <a:srgbClr val="D9A84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Maréchal Mahamat Idriss Déby Itno — Forum Tchad Connexion 2030, Abou Dabi, novembre 2025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54864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 Md$</a:t>
            </a:r>
            <a:endParaRPr lang="en-US" sz="2300" dirty="0"/>
          </a:p>
        </p:txBody>
      </p:sp>
      <p:sp>
        <p:nvSpPr>
          <p:cNvPr id="8" name="Text 6"/>
          <p:cNvSpPr/>
          <p:nvPr/>
        </p:nvSpPr>
        <p:spPr>
          <a:xfrm>
            <a:off x="54864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national Tchad Connexion 2030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265176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20,5 Md$</a:t>
            </a:r>
            <a:endParaRPr lang="en-US" sz="2300" dirty="0"/>
          </a:p>
        </p:txBody>
      </p:sp>
      <p:sp>
        <p:nvSpPr>
          <p:cNvPr id="10" name="Text 8"/>
          <p:cNvSpPr/>
          <p:nvPr/>
        </p:nvSpPr>
        <p:spPr>
          <a:xfrm>
            <a:off x="265176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déjà mobilisés au forum d'Abou Dabi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5488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268</a:t>
            </a:r>
            <a:endParaRPr lang="en-US" sz="2300" dirty="0"/>
          </a:p>
        </p:txBody>
      </p:sp>
      <p:sp>
        <p:nvSpPr>
          <p:cNvPr id="12" name="Text 10"/>
          <p:cNvSpPr/>
          <p:nvPr/>
        </p:nvSpPr>
        <p:spPr>
          <a:xfrm>
            <a:off x="475488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projets structurants identifiés</a:t>
            </a:r>
            <a:endParaRPr lang="en-US" sz="1050" dirty="0"/>
          </a:p>
        </p:txBody>
      </p:sp>
      <p:sp>
        <p:nvSpPr>
          <p:cNvPr id="13" name="Text 11"/>
          <p:cNvSpPr/>
          <p:nvPr/>
        </p:nvSpPr>
        <p:spPr>
          <a:xfrm>
            <a:off x="6858000" y="297180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8 %</a:t>
            </a:r>
            <a:endParaRPr lang="en-US" sz="2300" dirty="0"/>
          </a:p>
        </p:txBody>
      </p:sp>
      <p:sp>
        <p:nvSpPr>
          <p:cNvPr id="14" name="Text 12"/>
          <p:cNvSpPr/>
          <p:nvPr/>
        </p:nvSpPr>
        <p:spPr>
          <a:xfrm>
            <a:off x="6858000" y="3474720"/>
            <a:ext cx="1920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croissance visée par l'économie nationale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548640" y="416052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se positionne comme partenaire d'exécution de cette vision : transformer le brut ici, distribuer ici, employer ici.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NOTRE RÉPONSE · QUATRE DOCTRINES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Un modèle dessiné par les réalités tchadiennes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08760"/>
            <a:ext cx="45720" cy="14173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L'inversion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7724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 pas exporter le brut : créer au Tchad toute la chaîne de valeur — raffiner, distribuer, transformer localement.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09160" y="15087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4709160" y="1508760"/>
            <a:ext cx="45720" cy="14173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4937760" y="16550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proximité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937760" y="20116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le client ne peut pas venir à l'énergie, l'énergie va au client — au même prix, partout sur le territoire.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108960"/>
            <a:ext cx="45720" cy="14173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L'ingénierie frugale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77724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Standardiser, fractionner, échanger : actifs mobiles et modulaires, pièces catalogue, équipes 100 % locales.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3931920" cy="141732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4709160" y="3108960"/>
            <a:ext cx="45720" cy="14173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4937760" y="3255264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terrain comme designer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4937760" y="3611880"/>
            <a:ext cx="3566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Distances immenses, zones enclavées, prix régulés, mobile money : chaque contrainte est devenue un choix de conception.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MODÈLE ÉCONOMIQUE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Trois horizons — chaque étage finance le suivant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251460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· Dès l'an 1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Aval + Services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4980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 (12 stations ultra-premium + Mobile Stations™), services parapétroliers asset-light. Génère la trésorerie.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33756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37560" y="1554480"/>
            <a:ext cx="45720" cy="251460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53872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· Croissance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53872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EOR + Blocs marginaux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3872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(+8-17 % OOIP), valorisation des blocs non rentables pour les majors.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126480" y="1554480"/>
            <a:ext cx="2606040" cy="251460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126480" y="1554480"/>
            <a:ext cx="45720" cy="251460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6327648" y="171907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· 2030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327648" y="2011680"/>
            <a:ext cx="2286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Pétrochimie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327648" y="2615184"/>
            <a:ext cx="224028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Polypropylène 25 000 t/an, engrais urée/NPK : la transformation qui ancre la souveraineté industrielle.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315468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5943600" y="2606040"/>
            <a:ext cx="320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Text 19"/>
          <p:cNvSpPr/>
          <p:nvPr/>
        </p:nvSpPr>
        <p:spPr>
          <a:xfrm>
            <a:off x="548640" y="42976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5AA7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régulée sécurisée (ARSAT) sur les carburants + marges libres sur GPL, lubrifiants, services et non-régulé : un mix défensif et offensif.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1 · RÉSEAU CIBLE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 stations ultra-premium + l'énergie mobile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Moins de stations, mieux pensées : des hubs-dépôts d'un hectare (concept Le Relais), doublés d'une réserve stratégique distribuée, prolongés par les Mobile Stations™ jusqu'aux zones enclavées.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12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54864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stations ultra-premium en propre · 8 localités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2560320" y="210312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2560320" y="2606040"/>
            <a:ext cx="1828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dépôts régionaux · 30 jours d'autonomie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457200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4D39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24-48 h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457200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 d'une Mobile Station™ (MS-5000 à 15000)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6766560" y="210312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100 %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6766560" y="2606040"/>
            <a:ext cx="2011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 territoire couvert via l'extension mobile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383280"/>
            <a:ext cx="45720" cy="12344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7724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Réserve stratégique nationale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77724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Chaque station est aussi un stock de sécurité : le réseau amortit les chocs d'approvisionnement du pays.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4709160" y="3383280"/>
            <a:ext cx="3931920" cy="12344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383280"/>
            <a:ext cx="45720" cy="123444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37760" y="352958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Prix ARSAT, partout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937760" y="3822192"/>
            <a:ext cx="3566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Essence 800 · Gasoil 700 · Pétrole lampant 392 FCFA/L : le paysan de Mongo paie le prix du citadin de N'Djamena.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INNOVATION INDUSTRIELLE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La mini-raffinerie modulaire et redéployable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Raffiner près des champs, à l'échelle du besoin : modules préfabriqués, assemblés en mois — conçus pour tourner 24 h/24, supervisés par IA (coûts optimisés, intégrité des opérations).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024128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24128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02920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Préfabriquer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719072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2688336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2688336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2167128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Transporter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383280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352544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4352544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3831336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Assembler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5047488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6016752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016752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5495544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Produire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11696" y="2084832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7680960" y="1993392"/>
            <a:ext cx="457200" cy="457200"/>
          </a:xfrm>
          <a:prstGeom prst="ellipse">
            <a:avLst/>
          </a:prstGeom>
          <a:solidFill>
            <a:srgbClr val="13243E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7680960" y="1993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159752" y="2542032"/>
            <a:ext cx="1508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Redéployer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548640" y="3154680"/>
            <a:ext cx="45720" cy="146304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77724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Moins cher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CAPEX fractionné par module, standardisation, pas de génie civil lourd : on commence petit, on agrandit quand la demande paie.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4709160" y="3154680"/>
            <a:ext cx="3931920" cy="146304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9" name="Shape 27"/>
          <p:cNvSpPr/>
          <p:nvPr/>
        </p:nvSpPr>
        <p:spPr>
          <a:xfrm>
            <a:off x="4709160" y="3154680"/>
            <a:ext cx="45720" cy="146304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30" name="Text 28"/>
          <p:cNvSpPr/>
          <p:nvPr/>
        </p:nvSpPr>
        <p:spPr>
          <a:xfrm>
            <a:off x="4937760" y="32918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Facile à maintenir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4937760" y="3584448"/>
            <a:ext cx="3566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Pièces catalogue, modules échangeables, équipes locales formées (EnerTalents) : la panne se remplace, elle ne s'éternise pas.</a:t>
            </a:r>
            <a:endParaRPr lang="en-US" sz="1050" dirty="0"/>
          </a:p>
        </p:txBody>
      </p:sp>
      <p:sp>
        <p:nvSpPr>
          <p:cNvPr id="32" name="Text 30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HORIZON 2 · AMONT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Les barils que les majors laissent derrière eux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7160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brut de Doba est lourd (21-24° API) et les majors écrément : champs matures, blocs marginaux et eau de production sont notre terrain de jeu.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871216"/>
            <a:ext cx="1920240" cy="173736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871216"/>
            <a:ext cx="1920240" cy="4572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94944" y="298094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E86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Services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694944" y="3282696"/>
            <a:ext cx="16459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Entrer par les services parapétroliers : connaître les champs sans porter le risque.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2633472" y="2615184"/>
            <a:ext cx="1920240" cy="1993392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633472" y="2615184"/>
            <a:ext cx="1920240" cy="4572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2779776" y="27249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EOR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779776" y="3026664"/>
            <a:ext cx="1645920" cy="1490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Récupération assistée sur champs matures : +8-17 % du volume en place (OOIP).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718304" y="2359152"/>
            <a:ext cx="1920240" cy="2249424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4718304" y="2359152"/>
            <a:ext cx="1920240" cy="4572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4864608" y="24688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Blocs marginaux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4864608" y="2770632"/>
            <a:ext cx="16459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Reprendre les blocs non rentables pour les majors — rentables pour notre structure frugale.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6803136" y="2103120"/>
            <a:ext cx="1920240" cy="2505456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6803136" y="2103120"/>
            <a:ext cx="1920240" cy="4572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6949440" y="2212848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· Opérateur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949440" y="2514600"/>
            <a:ext cx="1645920" cy="2002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Devenir opérateur de plein droit sur nos propres permis.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SIGNATURES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Des innovations nées du terrain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55448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4980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Mobile Station™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74980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Station déployable en 24-48 h — l'énergie va au client.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33756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3337560" y="1554480"/>
            <a:ext cx="45720" cy="13258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53872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Mini-raffinerie 2.0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353872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Modulaire, amovible, redéployable près des champs.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126480" y="155448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6126480" y="1554480"/>
            <a:ext cx="45720" cy="13258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6327648" y="168249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Paiement USSD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327648" y="2011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smartphone ni internet : mobile money pour tous.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4864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548640" y="3063240"/>
            <a:ext cx="45720" cy="1325880"/>
          </a:xfrm>
          <a:prstGeom prst="rect">
            <a:avLst/>
          </a:prstGeom>
          <a:solidFill>
            <a:srgbClr val="5AA7F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74980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Water-to-Value™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74980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L'eau de production traitée : réinjection EOR, irrigation.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33756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1" name="Shape 19"/>
          <p:cNvSpPr/>
          <p:nvPr/>
        </p:nvSpPr>
        <p:spPr>
          <a:xfrm>
            <a:off x="3337560" y="3063240"/>
            <a:ext cx="45720" cy="1325880"/>
          </a:xfrm>
          <a:prstGeom prst="rect">
            <a:avLst/>
          </a:prstGeom>
          <a:solidFill>
            <a:srgbClr val="E8C36A"/>
          </a:solidFill>
          <a:ln/>
        </p:spPr>
        <p:txBody>
          <a:bodyPr/>
          <a:p/>
        </p:txBody>
      </p:sp>
      <p:sp>
        <p:nvSpPr>
          <p:cNvPr id="22" name="Text 20"/>
          <p:cNvSpPr/>
          <p:nvPr/>
        </p:nvSpPr>
        <p:spPr>
          <a:xfrm>
            <a:off x="353872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Énergie autonome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353872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Gaz + batteries : nos sites fonctionnent hors réseau.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126480" y="3063240"/>
            <a:ext cx="2606040" cy="13258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25" name="Shape 23"/>
          <p:cNvSpPr/>
          <p:nvPr/>
        </p:nvSpPr>
        <p:spPr>
          <a:xfrm>
            <a:off x="6126480" y="3063240"/>
            <a:ext cx="45720" cy="13258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327648" y="3191256"/>
            <a:ext cx="2286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EnerClub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6327648" y="352044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Fidélité conforme ARSAT : la valeur revient en points.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NATIONAL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L'infrastructure que le monde rural attendait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682496"/>
            <a:ext cx="146304" cy="146304"/>
          </a:xfrm>
          <a:prstGeom prst="ellipse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868680" y="1572768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Agriculture &amp; élevage</a:t>
            </a:r>
            <a:endParaRPr lang="en-US" sz="1450" dirty="0"/>
          </a:p>
        </p:txBody>
      </p:sp>
      <p:sp>
        <p:nvSpPr>
          <p:cNvPr id="6" name="Text 4"/>
          <p:cNvSpPr/>
          <p:nvPr/>
        </p:nvSpPr>
        <p:spPr>
          <a:xfrm>
            <a:off x="3749040" y="1572768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Carburant en saison agricole au prix ARSAT, eau pompée pour champs et troupeaux, GPL contre la coupe du bois, engrais du gaz dès 2030.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548640" y="2615184"/>
            <a:ext cx="146304" cy="146304"/>
          </a:xfrm>
          <a:prstGeom prst="ellipse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868680" y="2505456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Emplois &amp; compétences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3749040" y="2505456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80 % de contenu local visé, EnerTalents pour former avant d'extraire, franchises et opérateurs mobiles dans les régions.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48640" y="3547872"/>
            <a:ext cx="146304" cy="146304"/>
          </a:xfrm>
          <a:prstGeom prst="ellipse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868680" y="3438144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Souveraineté énergétique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3749040" y="3438144"/>
            <a:ext cx="4846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Réserve stratégique distribuée, carburants produits au pays, rente pétrolière qui reste au Tchad.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548640" y="4334256"/>
            <a:ext cx="8046720" cy="18288"/>
          </a:xfrm>
          <a:prstGeom prst="rect">
            <a:avLst/>
          </a:prstGeom>
          <a:solidFill>
            <a:srgbClr val="1E3252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548640" y="44074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i="1" dirty="0">
                <a:solidFill>
                  <a:srgbClr val="E8C36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« EnerTchad donne accès aux énergies à tous, pour un développement harmonisé. »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1B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GOUVERNANCE · TRANSPARENCE RADICALE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Nous n'avons encore rien — et c'est notre force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1389888"/>
            <a:ext cx="8046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Zéro actif en exploitation : tout chiffre opérationnel présenté est une donnée du secteur ou une cible de l'entreprise. Notre première alliance est déjà signée — Guess Consulting (GCIC), partenaire investissement. Vous investissez dans un modèle et une équipe, pas dans un récit gonflé.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548640" y="224028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4980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S.A. de droit tchadien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N'DJ/RC/2026-A-0001 · conseil d'administration · 10 actionnaires fondateurs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709160" y="224028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4709160" y="224028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4910328" y="235000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Cadre OHADA / IFRS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910328" y="266090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Comptes aux normes internationales · commissariat aux comptes de premier plan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4864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48640" y="3429000"/>
            <a:ext cx="45720" cy="1024128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4980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Conformité visée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74980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ITIE (adhésion visée), ISO 9001/14001/45001 visés, démarche HSE (ALARP)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09160" y="3429000"/>
            <a:ext cx="3931920" cy="1024128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4709160" y="3429000"/>
            <a:ext cx="45720" cy="1024128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4910328" y="3538728"/>
            <a:ext cx="3611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Marques en dépôt OAPI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4910328" y="3849624"/>
            <a:ext cx="36118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Station™, Water-to-Value™, NRJ+, EnerClub — propriété intellectuelle protégée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REJOINDRE LE TOUR DE TABLE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548640" y="658368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Ce que nous recherchons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463040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548640" y="1463040"/>
            <a:ext cx="45720" cy="868680"/>
          </a:xfrm>
          <a:prstGeom prst="rect">
            <a:avLst/>
          </a:prstGeom>
          <a:solidFill>
            <a:srgbClr val="D9A84F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77240" y="1572768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Investisseurs tchadiens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3383280" y="1572768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Répondre à l'appel du Président : que la chaîne de valeur pétrolière du pays appartienne aussi à des capitaux tchadiens.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48640" y="2432304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2432304"/>
            <a:ext cx="45720" cy="868680"/>
          </a:xfrm>
          <a:prstGeom prst="rect">
            <a:avLst/>
          </a:prstGeom>
          <a:solidFill>
            <a:srgbClr val="2E86DE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2542032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Partenaires stratégiques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3383280" y="2542032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État &amp; SHT (partenaire d'exécution), universitaires &amp; chercheurs, experts OT mondiaux (Honeywell, Siemens et pairs).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548640" y="3401568"/>
            <a:ext cx="8046720" cy="868680"/>
          </a:xfrm>
          <a:prstGeom prst="rect">
            <a:avLst/>
          </a:prstGeom>
          <a:solidFill>
            <a:srgbClr val="13243E"/>
          </a:solidFill>
          <a:ln w="9525">
            <a:solidFill>
              <a:srgbClr val="1E3252"/>
            </a:solidFill>
            <a:prstDash val="solid"/>
          </a:ln>
        </p:spPr>
        <p:txBody>
          <a:bodyPr/>
          <a:p/>
        </p:txBody>
      </p:sp>
      <p:sp>
        <p:nvSpPr>
          <p:cNvPr id="13" name="Shape 11"/>
          <p:cNvSpPr/>
          <p:nvPr/>
        </p:nvSpPr>
        <p:spPr>
          <a:xfrm>
            <a:off x="548640" y="3401568"/>
            <a:ext cx="45720" cy="868680"/>
          </a:xfrm>
          <a:prstGeom prst="rect">
            <a:avLst/>
          </a:prstGeom>
          <a:solidFill>
            <a:srgbClr val="34D399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777240" y="3511296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Financement par horizon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3383280" y="3511296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: amorçage du réseau aval pilote. H2 : véhicules dédiés EOR/blocs. H3 : project finance pétrochimie. Levées structurées avec notre partenaire investissement Guess Consulting (GCIC). Dossier détaillé sur demande.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548640" y="4407408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 arrivé, mieux servi : les positions fondatrices ne se représenteront pas.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549640" y="477316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548640" y="47731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A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— Dossier investisseur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42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2194560"/>
            <a:ext cx="4206240" cy="4206240"/>
          </a:xfrm>
          <a:prstGeom prst="ellipse">
            <a:avLst/>
          </a:prstGeom>
          <a:solidFill>
            <a:srgbClr val="0B1422"/>
          </a:solidFill>
          <a:ln w="12700">
            <a:solidFill>
              <a:srgbClr val="D9A84F"/>
            </a:solidFill>
            <a:prstDash val="solid"/>
          </a:ln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640080" y="91440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D9A8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ENERTCHAD S.A. · UNITÉ · INNOVATION · DURABILITÉ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Parlons-en.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2468880"/>
            <a:ext cx="5943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2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 Générale
</a:t>
            </a:r>
            <a:pPr indent="0" marL="0">
              <a:lnSpc>
                <a:spcPts val="2200"/>
              </a:lnSpc>
              <a:buNone/>
            </a:pPr>
            <a:r>
              <a:rPr lang="en-US" sz="1400" dirty="0">
                <a:solidFill>
                  <a:srgbClr val="E8C3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+235 99 29 86 96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Siège : Radisson Blu, Sabangali — N'Djamena, Tchad
</a:t>
            </a:r>
            <a:pPr indent="0" marL="0">
              <a:lnSpc>
                <a:spcPts val="2200"/>
              </a:lnSpc>
              <a:buNone/>
            </a:pPr>
            <a:r>
              <a:rPr lang="en-US" sz="1150" dirty="0">
                <a:solidFill>
                  <a:srgbClr val="9DAA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RCCM N'DJ/RC/2026-A-0001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420624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AA7F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 Tchad exporte son brut et importe ses carburants. Nous inversons cette logique — avec vous.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investisseur — EnerTchad</dc:title>
  <dc:subject>PptxGenJS Presentation</dc:subject>
  <dc:creator>EnerTchad S.A.</dc:creator>
  <cp:lastModifiedBy>EnerTchad S.A.</cp:lastModifiedBy>
  <cp:revision>1</cp:revision>
  <dcterms:created xsi:type="dcterms:W3CDTF">2026-06-06T21:01:23Z</dcterms:created>
  <dcterms:modified xsi:type="dcterms:W3CDTF">2026-06-06T21:01:23Z</dcterms:modified>
</cp:coreProperties>
</file>