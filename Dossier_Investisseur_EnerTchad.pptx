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Brut tchadien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A84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6415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Transformé au Tchad (~14 %)</c:v>
                </c:pt>
                <c:pt idx="1">
                  <c:v>Exporté brut (~86 %)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14</c:v>
                </c:pt>
                <c:pt idx="1">
                  <c:v>86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DAAC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4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42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126480" y="-1280160"/>
            <a:ext cx="4937760" cy="493776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548640"/>
            <a:ext cx="3474720" cy="3474720"/>
          </a:xfrm>
          <a:prstGeom prst="ellipse">
            <a:avLst/>
          </a:prstGeom>
          <a:solidFill>
            <a:srgbClr val="0B1422"/>
          </a:solidFill>
          <a:ln w="9525">
            <a:solidFill>
              <a:srgbClr val="33506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94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
et importe ses carburants.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inversons cette logique.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investisseur · Juillet 2026 · Confidentiel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C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roche-mère à la pompe — un énergéticien intégré, né des réalités tchadiennes.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L'OPPORTUNITÉ · DONNÉES SECTEUR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paradoxe tchadien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pétrolier qui importe l'essentiel de ses carburants : chaque maillon manquant de la chaîne de valeur est un marché à construire.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kb/j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nationale de brut — exportée à ~86 %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kb/j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34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raffinerie (Djermaya) pour tout le pays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bassins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blocs au cadastre — largement sous-explorés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1 070 km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34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d'export utilisé à 40 % — marge énorme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417320"/>
          <a:ext cx="3291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355080" y="2487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63640" y="2852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 ici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· TCHAD CONNEXION 2030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L'État appelle les Tchadiens à investir au Tchad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5448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Tchad est une terre d'opportunités. Venez investir, le moment, c'est maintenant. »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D9A8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Maréchal Mahamat Idriss Déby Itno — Forum Tchad Connexion 2030, Abou Dabi, novembre 2025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Md$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national Tchad Connexion 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20,5 Md$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65176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mobilisés au forum d'Abou Dabi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structurants identifiés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8 %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visée par l'économie nationale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se positionne comme partenaire d'exécution de cette vision : transformer le brut ici, distribuer ici, employer ici.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 · QUATRE DOCTRINES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modèle dessiné par les réalités tchadiennes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14173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L'inversion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exporter le brut : créer au Tchad toute la chaîne de valeur — raffiner, distribuer, transformer localement.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1508760"/>
            <a:ext cx="45720" cy="14173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proximité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client ne peut pas venir à l'énergie, l'énergie va au client — au même prix, partout sur le territoire.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L'ingénierie frugale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Standardiser, fractionner, échanger : actifs mobiles et modulaires, pièces catalogue, équipes 100 % locales.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5720" cy="14173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3776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terrain comme designer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immenses, zones enclavées, prix régulés, mobile money : chaque contrainte est devenue un choix de conception.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horizons — chaque étage finance le suivant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251460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Dès l'an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 + Services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(12 stations ultra-premium + Mobile Stations™), services parapétroliers asset-light. Génère la trésorerie.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554480"/>
            <a:ext cx="45720" cy="251460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872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Croissance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872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+ Blocs marginaux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(+8-17 % OOIP), valorisation des blocs non rentables pour les majors.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45720" cy="25146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764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2030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764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Pétrochimie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Polypropylène 25 000 t/an, engrais urée/NPK : la transformation qui ancre la souveraineté industrielle.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5468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régulée sécurisée (ARSAT) sur les carburants + marges libres sur GPL, lubrifiants, services et non-régulé : un mix défensif et offensif.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 · RÉSEAU CIBLE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stations ultra-premium + l'énergie mobile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stations, mieux pensées : des hubs-dépôts d'un hectare (concept Le Relais), doublés d'une réserve stratégique distribuée, prolongés par les Mobile Stations™ jusqu'aux zones enclavées.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ultra-premium en propre · 8 localités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56032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régionaux · 30 jours d'autonomie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24-48 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d'une Mobile Station™ (MS-5000 à 15000)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territoire couvert via l'extension mobile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Réserve stratégique nationale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station est aussi un stock de sécurité : le réseau amortit les chocs d'approvisionnement du pays.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5720" cy="123444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Prix ARSAT, partout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Essence 800 · Gasoil 700 · Pétrole lampant 392 FCFA/L : le paysan de Mongo paie le prix du citadin de N'Djamena.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INDUSTRIELLE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mini-raffinerie modulaire et redéployable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Raffiner près des champs, à l'échelle du besoin : modules préfabriqués, assemblés en mois — conçus pour tourner 24 h/24, supervisés par IA (coûts optimisés, intégrité des opérations).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412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Préfabriquer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88336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883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67128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525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31336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16752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167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95544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59752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3154680"/>
            <a:ext cx="45720" cy="14630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Moins cher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fractionné par module, standardisation, pas de génie civil lourd : on commence petit, on agrandit quand la demande paie.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709160" y="3154680"/>
            <a:ext cx="45720" cy="14630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377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Facile à maintenir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catalogue, modules échangeables, équipes locales formées (EnerTalents) : la panne se remplace, elle ne s'éternise pas.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 · AMONT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barils que les majors laissent derrière eux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brut de Doba est lourd (21-24° API) et les majors écrément : champs matures, blocs marginaux et eau de production sont notre terrain de jeu.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871216"/>
            <a:ext cx="1920240" cy="173736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71216"/>
            <a:ext cx="1920240" cy="457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980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Services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3282696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par les services parapétroliers : connaître les champs sans porter le risque.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33472" y="2615184"/>
            <a:ext cx="1920240" cy="1993392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33472" y="2615184"/>
            <a:ext cx="192024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79776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79776" y="3026664"/>
            <a:ext cx="16459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: +8-17 % du volume en place (OOIP).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1920240" cy="2249424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18304" y="2359152"/>
            <a:ext cx="1920240" cy="457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6460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Blocs marginaux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2770632"/>
            <a:ext cx="16459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Reprendre les blocs non rentables pour les majors — rentables pour notre structure frugale.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2103120"/>
            <a:ext cx="1920240" cy="2505456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03136" y="2103120"/>
            <a:ext cx="1920240" cy="457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944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Opérateur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514600"/>
            <a:ext cx="164592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opérateur de plein droit sur nos propres permis.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SIGNATURES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innovations nées du terrain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Station™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déployable en 24-48 h — l'énergie va au client.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554480"/>
            <a:ext cx="45720" cy="13258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872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Mini-raffinerie 2.0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Modulaire, amovible, redéployable près des champs.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45720" cy="13258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2764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Paiement USSD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2764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smartphone ni internet : mobile money pour tous.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063240"/>
            <a:ext cx="45720" cy="1325880"/>
          </a:xfrm>
          <a:prstGeom prst="rect">
            <a:avLst/>
          </a:prstGeom>
          <a:solidFill>
            <a:srgbClr val="5AA7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Water-to-Value™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L'eau de production traitée : réinjection EOR, irrigation.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37560" y="3063240"/>
            <a:ext cx="45720" cy="132588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3872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Énergie autonome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3872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+ batteries : nos sites fonctionnent hors réseau.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306324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2764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EnerClub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2764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Fidélité conforme ARSAT : la valeur revient en points.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L'infrastructure que le monde rural attendait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élevage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49040" y="1572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Carburant en saison agricole au prix ARSAT, eau pompée pour champs et troupeaux, GPL contre la coupe du bois, engrais du gaz dès 2030.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46304" cy="146304"/>
          </a:xfrm>
          <a:prstGeom prst="ellipse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05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Emplois &amp; compétences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49040" y="25054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contenu local visé, EnerTalents pour former avant d'extraire, franchises et opérateurs mobiles dans les régions.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47872"/>
            <a:ext cx="146304" cy="146304"/>
          </a:xfrm>
          <a:prstGeom prst="ellipse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Souveraineté énergétique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stratégique distribuée, carburants produits au pays, rente pétrolière qui reste au Tchad.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8046720" cy="18288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44074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EnerTchad donne accès aux énergies à tous, pour un développement harmonisé.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TRANSPARENCE RADICALE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n'avons encore rien — et c'est notre force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actif en exploitation : tout chiffre opérationnel présenté est une donnée du secteur ou une cible de l'entreprise. Notre première alliance est déjà signée — Guess Consulting (GCIC), partenaire investissement. Vous investissez dans un modèle et une équipe, pas dans un récit gonflé.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24028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S.A. de droit tchadien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 · conseil d'administration · 10 actionnaires fondateurs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224028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1032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Cadre OHADA / IFRS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aux normes internationales · commissariat aux comptes de premier plan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visée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ITIE (adhésion visée), ISO 9001/14001/45001 visés, démarche HSE (ALARP)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032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Marques en dépôt OAPI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1032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Station™, Water-to-Value™, NRJ+, EnerClub — propriété intellectuelle protégée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TOUR DE TABLE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recherchons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63040"/>
            <a:ext cx="45720" cy="8686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727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Investisseurs tchadiens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83280" y="15727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à l'appel du Président : que la chaîne de valeur pétrolière du pays appartienne aussi à des capitaux tchadiens.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32304"/>
            <a:ext cx="45720" cy="8686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Partenaires stratégiques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5420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&amp; SHT (partenaire d'exécution), universitaires &amp; chercheurs, experts OT mondiaux (Honeywell, Siemens et pairs).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401568"/>
            <a:ext cx="45720" cy="8686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5112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par horizon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35112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: amorçage du réseau aval pilote. H2 : véhicules dédiés EOR/blocs. H3 : project finance pétrochimie. Levées structurées avec notre partenaire investissement Guess Consulting (GCIC). Dossier détaillé sur demande.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arrivé, mieux servi : les positions fondatrices ne se représenteront pas.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2194560"/>
            <a:ext cx="4206240" cy="420624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Parlons-en.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Générale
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contact@enertchad.td · +235 99 29 86 96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Block D, 2e étage, bureau 23 — Quartier Sabangali, Cité du 1er décembre, N'Djamena, Tchad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 et importe ses carburants. Nous inversons cette logique — avec vous.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investisseur — EnerTchad</dc:title>
  <dc:subject>PptxGenJS Presentation</dc:subject>
  <dc:creator>EnerTchad S.A.</dc:creator>
  <cp:lastModifiedBy>EnerTchad S.A.</cp:lastModifiedBy>
  <cp:revision>1</cp:revision>
  <dcterms:created xsi:type="dcterms:W3CDTF">2026-06-06T21:01:23Z</dcterms:created>
  <dcterms:modified xsi:type="dcterms:W3CDTF">2026-06-06T21:01:23Z</dcterms:modified>
</cp:coreProperties>
</file>